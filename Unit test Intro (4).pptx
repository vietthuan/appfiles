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7" roundtripDataSignature="AMtx7mhhzgG0FGcXd8nmFh7E6e4e+45S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-bold.fntdata"/><Relationship Id="rId21" Type="http://schemas.openxmlformats.org/officeDocument/2006/relationships/slide" Target="slides/slide15.xml"/><Relationship Id="rId43" Type="http://schemas.openxmlformats.org/officeDocument/2006/relationships/font" Target="fonts/Robot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9a359dc7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9a359dc7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3761c75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53761c75e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2268cfb8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12268cfb89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268cfb8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12268cfb89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268cfb8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12268cfb89e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80daa98f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1280daa98f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2268cfb8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12268cfb89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2268cfb8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12268cfb89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b8a6e124f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11b8a6e124f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b8a6e124f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11b8a6e124f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4e1a612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34e1a61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268cfb89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12268cfb89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2268cfb8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12268cfb89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b8a6e124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11b8a6e124f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1b8a6e124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11b8a6e124f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2268cfb8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12268cfb89e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26f377bf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126f377bf6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34e1a612b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34e1a61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80daa98f3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280daa98f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4e1a612b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34e1a61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280daa98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g1280daa98f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f44cbe1a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f44cbe1a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4e1a612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34e1a612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280daa98f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1280daa98f3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f44cbe1a5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f44cbe1a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2268cfb89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g12268cfb89e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2268cfb89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12268cfb89e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2268cfb89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g12268cfb89e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f44cbe1a55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f44cbe1a5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2268cfb89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9" name="Google Shape;459;g12268cfb89e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f44cbe1a5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gf44cbe1a55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f44cbe1a55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f44cbe1a55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8661bab4b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g8661bab4b2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44cbe1a55_0_11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f44cbe1a55_0_11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gf44cbe1a55_0_1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f44cbe1a55_0_1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f44cbe1a55_0_1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f44cbe1a55_0_1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f44cbe1a55_0_1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f44cbe1a55_0_1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f44cbe1a55_0_1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f44cbe1a55_0_1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44cbe1a55_0_12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f44cbe1a55_0_12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gf44cbe1a55_0_1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f44cbe1a55_0_1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f44cbe1a55_0_1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44cbe1a55_0_1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f44cbe1a55_0_131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gf44cbe1a55_0_131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gf44cbe1a55_0_1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f44cbe1a55_0_1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f44cbe1a55_0_1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44cbe1a55_0_13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f44cbe1a55_0_138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gf44cbe1a55_0_138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f44cbe1a55_0_138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gf44cbe1a55_0_138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f44cbe1a55_0_1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f44cbe1a55_0_1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f44cbe1a55_0_1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44cbe1a55_0_1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f44cbe1a55_0_14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f44cbe1a55_0_14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f44cbe1a55_0_1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4cbe1a55_0_15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f44cbe1a55_0_15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f44cbe1a55_0_1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44cbe1a55_0_156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f44cbe1a55_0_156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f44cbe1a55_0_156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gf44cbe1a55_0_1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f44cbe1a55_0_1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f44cbe1a55_0_1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44cbe1a55_0_16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f44cbe1a55_0_16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f44cbe1a55_0_16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gf44cbe1a55_0_1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f44cbe1a55_0_1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f44cbe1a55_0_1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44cbe1a55_0_17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f44cbe1a55_0_170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f44cbe1a55_0_17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f44cbe1a55_0_17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f44cbe1a55_0_1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44cbe1a55_0_17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f44cbe1a55_0_17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f44cbe1a55_0_1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f44cbe1a55_0_1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f44cbe1a55_0_1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Default Slid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44cbe1a55_0_10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f44cbe1a55_0_10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f44cbe1a55_0_1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f44cbe1a55_0_1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f44cbe1a55_0_1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visualstudiogallery.msdn.microsoft.com/0da0f6bd-9bb6-4ae3-87a8-537788622f2d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nsubstitute.github.io/" TargetMode="External"/><Relationship Id="rId4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/>
        </p:nvSpPr>
        <p:spPr>
          <a:xfrm>
            <a:off x="1901400" y="2478625"/>
            <a:ext cx="83892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Giới thiệu Unit Test</a:t>
            </a:r>
            <a:endParaRPr b="1" i="0" sz="4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"/>
          <p:cNvSpPr txBox="1"/>
          <p:nvPr>
            <p:ph idx="1" type="body"/>
          </p:nvPr>
        </p:nvSpPr>
        <p:spPr>
          <a:xfrm>
            <a:off x="838200" y="1123650"/>
            <a:ext cx="105156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Unit Test là gì?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Ưu điểm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NUnit Framework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Các kỹ thuật để break dependency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Isolation Framework: Nsubstitute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Best practices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Refactor code một số case thường gặp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a359dc708_0_0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test là gì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g9a359dc70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125" y="1285501"/>
            <a:ext cx="9744075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9a359dc70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50" y="1495050"/>
            <a:ext cx="5020225" cy="3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9a359dc708_0_0"/>
          <p:cNvSpPr/>
          <p:nvPr/>
        </p:nvSpPr>
        <p:spPr>
          <a:xfrm>
            <a:off x="1347575" y="3824875"/>
            <a:ext cx="3503100" cy="103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3761c75e2_0_2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Unit test là gì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53761c75e2_0_2"/>
          <p:cNvSpPr txBox="1"/>
          <p:nvPr>
            <p:ph idx="1" type="body"/>
          </p:nvPr>
        </p:nvSpPr>
        <p:spPr>
          <a:xfrm>
            <a:off x="838200" y="1123650"/>
            <a:ext cx="103497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Unit Test là một test case, test một phần chức năng của code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g53761c75e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5625" y="2018250"/>
            <a:ext cx="8394851" cy="39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268cfb89e_0_1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Ưu điểm của Unit Test?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12268cfb89e_0_1"/>
          <p:cNvSpPr txBox="1"/>
          <p:nvPr>
            <p:ph idx="1" type="body"/>
          </p:nvPr>
        </p:nvSpPr>
        <p:spPr>
          <a:xfrm>
            <a:off x="838200" y="1276050"/>
            <a:ext cx="63783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Giúp dễ tìm bug hơn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Giúp code dễ bảo trì hơn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Giúp code dễ hiểu hơn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Giúp code dễ phát triển, mở rộng hơn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12268cfb89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8900" y="1276051"/>
            <a:ext cx="4562475" cy="41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2268cfb89e_0_6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Test Framework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12268cfb89e_0_6"/>
          <p:cNvSpPr txBox="1"/>
          <p:nvPr>
            <p:ph idx="1" type="body"/>
          </p:nvPr>
        </p:nvSpPr>
        <p:spPr>
          <a:xfrm>
            <a:off x="838200" y="1123650"/>
            <a:ext cx="29163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MSTest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Nunit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Xunit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g12268cfb89e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325" y="229050"/>
            <a:ext cx="5604894" cy="58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268cfb89e_0_11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NUnit Framework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12268cfb89e_0_11"/>
          <p:cNvSpPr txBox="1"/>
          <p:nvPr>
            <p:ph idx="1" type="body"/>
          </p:nvPr>
        </p:nvSpPr>
        <p:spPr>
          <a:xfrm>
            <a:off x="838200" y="1123650"/>
            <a:ext cx="64350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Chọn Nunit thay vì MSTest framework vì: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Nunit open source nên nhiều tính năng tốt hơn, performance cao hơn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Cập nhật thường xuyên hơn MSTest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Cài đặt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Nunit Framework từ NuGet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Nunit Test Adapter từ Gallery: </a:t>
            </a:r>
            <a:r>
              <a:rPr lang="en-US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https://visualstudiogallery.msdn.microsoft.com/0da0f6bd-9bb6-4ae3-87a8-537788622f2d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g12268cfb89e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750" y="1191151"/>
            <a:ext cx="4614000" cy="460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80daa98f3_0_14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NUnit Framework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g1280daa98f3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500" y="1214175"/>
            <a:ext cx="7490274" cy="4429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09" name="Google Shape;209;g1280daa98f3_0_14"/>
          <p:cNvSpPr txBox="1"/>
          <p:nvPr>
            <p:ph idx="1" type="body"/>
          </p:nvPr>
        </p:nvSpPr>
        <p:spPr>
          <a:xfrm>
            <a:off x="380975" y="1302075"/>
            <a:ext cx="3979200" cy="3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Tạo project NUnit Test trên Visual Studio 2019-2022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268cfb89e_0_16"/>
          <p:cNvSpPr txBox="1"/>
          <p:nvPr>
            <p:ph idx="1" type="body"/>
          </p:nvPr>
        </p:nvSpPr>
        <p:spPr>
          <a:xfrm>
            <a:off x="838200" y="1123650"/>
            <a:ext cx="4831200" cy="50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Một số Attribute hay dùng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TestFixture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Ignore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Description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Category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Một số Assert hay dùng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AreEqual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IsTrue/False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Contains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IsNull/NotNull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g12268cfb89e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813" y="1308300"/>
            <a:ext cx="6086475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12268cfb89e_0_16"/>
          <p:cNvSpPr/>
          <p:nvPr/>
        </p:nvSpPr>
        <p:spPr>
          <a:xfrm>
            <a:off x="534800" y="1132500"/>
            <a:ext cx="11356500" cy="495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12268cfb89e_0_16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NUnit Framework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g12268cfb89e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926075"/>
            <a:ext cx="10877550" cy="3257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268cfb89e_0_21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loại hàm Unit Test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12268cfb89e_0_21"/>
          <p:cNvSpPr txBox="1"/>
          <p:nvPr>
            <p:ph idx="1" type="body"/>
          </p:nvPr>
        </p:nvSpPr>
        <p:spPr>
          <a:xfrm>
            <a:off x="838200" y="1123650"/>
            <a:ext cx="101235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Có 3 loại hàm cần 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Hàm trả về giá trị (Value-based)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g12268cfb89e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75" y="2428988"/>
            <a:ext cx="8477250" cy="3286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1b8a6e124f_1_65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loại hàm Unit Test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11b8a6e124f_1_65"/>
          <p:cNvSpPr txBox="1"/>
          <p:nvPr>
            <p:ph idx="1" type="body"/>
          </p:nvPr>
        </p:nvSpPr>
        <p:spPr>
          <a:xfrm>
            <a:off x="838200" y="1123650"/>
            <a:ext cx="10515600" cy="12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Hàm không trả về giá trị nhưng thay đổi thuộc tính của đối tượng (State-based)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g11b8a6e124f_1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302" y="2408550"/>
            <a:ext cx="4815850" cy="4251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b8a6e124f_1_70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loại hàm Unit Test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11b8a6e124f_1_70"/>
          <p:cNvSpPr txBox="1"/>
          <p:nvPr>
            <p:ph idx="1" type="body"/>
          </p:nvPr>
        </p:nvSpPr>
        <p:spPr>
          <a:xfrm>
            <a:off x="838200" y="1123650"/>
            <a:ext cx="9565800" cy="12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Hàm không trả về đối tượng và gọi sang một hàm khác (Interaction-based)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9" name="Google Shape;239;g11b8a6e124f_1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138" y="2419950"/>
            <a:ext cx="4943726" cy="39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34e1a612b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hành số 1</a:t>
            </a:r>
            <a:endParaRPr/>
          </a:p>
        </p:txBody>
      </p:sp>
      <p:sp>
        <p:nvSpPr>
          <p:cNvPr id="245" name="Google Shape;245;g134e1a612b7_0_0"/>
          <p:cNvSpPr txBox="1"/>
          <p:nvPr>
            <p:ph idx="1" type="body"/>
          </p:nvPr>
        </p:nvSpPr>
        <p:spPr>
          <a:xfrm>
            <a:off x="838200" y="1825625"/>
            <a:ext cx="10515600" cy="410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Project: 1.Sample/MISA.UT.Calculator.A</a:t>
            </a:r>
            <a:r>
              <a:rPr lang="en-US" sz="4000"/>
              <a:t>pp</a:t>
            </a:r>
            <a:endParaRPr sz="4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Yêu cầu chung: </a:t>
            </a:r>
            <a:endParaRPr sz="4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IDE: Visual studio 2019-2022</a:t>
            </a:r>
            <a:endParaRPr sz="4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Framework: Net core 3.1</a:t>
            </a:r>
            <a:endParaRPr sz="4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Language: C#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2268cfb89e_0_31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Dependency (Tight couple)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g12268cfb89e_0_31"/>
          <p:cNvSpPr txBox="1"/>
          <p:nvPr>
            <p:ph idx="1" type="body"/>
          </p:nvPr>
        </p:nvSpPr>
        <p:spPr>
          <a:xfrm>
            <a:off x="838200" y="1123650"/>
            <a:ext cx="76233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Muốn unit test được tự động và độc lập môi trường -&gt; cần loại bỏ các phụ thuộc này (break dependency - loose couple)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g12268cfb89e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4500" y="1704976"/>
            <a:ext cx="2085975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12268cfb89e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6150" y="2731925"/>
            <a:ext cx="7225353" cy="3754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54" name="Google Shape;254;g12268cfb89e_0_31"/>
          <p:cNvSpPr/>
          <p:nvPr/>
        </p:nvSpPr>
        <p:spPr>
          <a:xfrm>
            <a:off x="1716875" y="4683500"/>
            <a:ext cx="6657600" cy="36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5" name="Google Shape;255;g12268cfb89e_0_31"/>
          <p:cNvCxnSpPr>
            <a:endCxn id="254" idx="0"/>
          </p:cNvCxnSpPr>
          <p:nvPr/>
        </p:nvCxnSpPr>
        <p:spPr>
          <a:xfrm flipH="1">
            <a:off x="5045675" y="3646400"/>
            <a:ext cx="5296800" cy="1037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g12268cfb89e_0_31"/>
          <p:cNvSpPr/>
          <p:nvPr/>
        </p:nvSpPr>
        <p:spPr>
          <a:xfrm>
            <a:off x="9445075" y="4170550"/>
            <a:ext cx="1908900" cy="1515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12268cfb89e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25" y="1787076"/>
            <a:ext cx="4051081" cy="332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12268cfb89e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8550" y="2910500"/>
            <a:ext cx="4505075" cy="324335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3" name="Google Shape;263;g12268cfb89e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4675" y="712425"/>
            <a:ext cx="7288950" cy="203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64" name="Google Shape;264;g12268cfb89e_0_36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Dependency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g12268cfb89e_0_36"/>
          <p:cNvSpPr/>
          <p:nvPr/>
        </p:nvSpPr>
        <p:spPr>
          <a:xfrm>
            <a:off x="760125" y="3854750"/>
            <a:ext cx="1628100" cy="1260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g12268cfb89e_0_36"/>
          <p:cNvSpPr/>
          <p:nvPr/>
        </p:nvSpPr>
        <p:spPr>
          <a:xfrm>
            <a:off x="3076000" y="2910500"/>
            <a:ext cx="1735200" cy="1312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7" name="Google Shape;267;g12268cfb89e_0_36"/>
          <p:cNvCxnSpPr>
            <a:endCxn id="268" idx="1"/>
          </p:cNvCxnSpPr>
          <p:nvPr/>
        </p:nvCxnSpPr>
        <p:spPr>
          <a:xfrm>
            <a:off x="2754325" y="2641050"/>
            <a:ext cx="5115000" cy="122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g12268cfb89e_0_36"/>
          <p:cNvCxnSpPr>
            <a:endCxn id="270" idx="1"/>
          </p:cNvCxnSpPr>
          <p:nvPr/>
        </p:nvCxnSpPr>
        <p:spPr>
          <a:xfrm flipH="1" rot="10800000">
            <a:off x="2743225" y="1522200"/>
            <a:ext cx="2486700" cy="2802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g12268cfb89e_0_36"/>
          <p:cNvSpPr/>
          <p:nvPr/>
        </p:nvSpPr>
        <p:spPr>
          <a:xfrm>
            <a:off x="5229925" y="1338150"/>
            <a:ext cx="6690600" cy="368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g12268cfb89e_0_36"/>
          <p:cNvSpPr/>
          <p:nvPr/>
        </p:nvSpPr>
        <p:spPr>
          <a:xfrm>
            <a:off x="7869325" y="3765450"/>
            <a:ext cx="40512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1" name="Google Shape;271;g12268cfb89e_0_36"/>
          <p:cNvSpPr/>
          <p:nvPr/>
        </p:nvSpPr>
        <p:spPr>
          <a:xfrm>
            <a:off x="7869325" y="4754175"/>
            <a:ext cx="40512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b8a6e124f_1_14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Dependency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g11b8a6e124f_1_14"/>
          <p:cNvSpPr txBox="1"/>
          <p:nvPr>
            <p:ph idx="1" type="body"/>
          </p:nvPr>
        </p:nvSpPr>
        <p:spPr>
          <a:xfrm>
            <a:off x="921150" y="4756125"/>
            <a:ext cx="103497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Tạo base class với các hàm virtual để override lại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Extract interface để tạo ra các class implement khác nhau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g11b8a6e124f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781" y="1064201"/>
            <a:ext cx="5106900" cy="3327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79" name="Google Shape;279;g11b8a6e124f_1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575" y="1064201"/>
            <a:ext cx="4434407" cy="33276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80" name="Google Shape;280;g11b8a6e124f_1_14"/>
          <p:cNvSpPr/>
          <p:nvPr/>
        </p:nvSpPr>
        <p:spPr>
          <a:xfrm>
            <a:off x="921150" y="981350"/>
            <a:ext cx="4554000" cy="35238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g11b8a6e124f_1_14"/>
          <p:cNvSpPr/>
          <p:nvPr/>
        </p:nvSpPr>
        <p:spPr>
          <a:xfrm>
            <a:off x="5957800" y="981350"/>
            <a:ext cx="5215800" cy="3601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" name="Google Shape;282;g11b8a6e124f_1_14"/>
          <p:cNvSpPr/>
          <p:nvPr/>
        </p:nvSpPr>
        <p:spPr>
          <a:xfrm>
            <a:off x="1025250" y="4804450"/>
            <a:ext cx="8063100" cy="4701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3" name="Google Shape;283;g11b8a6e124f_1_14"/>
          <p:cNvSpPr/>
          <p:nvPr/>
        </p:nvSpPr>
        <p:spPr>
          <a:xfrm>
            <a:off x="1025250" y="5354625"/>
            <a:ext cx="9144600" cy="470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g11b8a6e124f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219" y="498501"/>
            <a:ext cx="5106900" cy="332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11b8a6e124f_1_7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Dependency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g11b8a6e124f_1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606" y="665776"/>
            <a:ext cx="3409950" cy="866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91" name="Google Shape;291;g11b8a6e124f_1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8950" y="3990425"/>
            <a:ext cx="8772525" cy="232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92" name="Google Shape;292;g11b8a6e124f_1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75" y="1666550"/>
            <a:ext cx="4276725" cy="152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93" name="Google Shape;293;g11b8a6e124f_1_7"/>
          <p:cNvSpPr/>
          <p:nvPr/>
        </p:nvSpPr>
        <p:spPr>
          <a:xfrm>
            <a:off x="6211225" y="1752425"/>
            <a:ext cx="1404900" cy="30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g11b8a6e124f_1_7"/>
          <p:cNvSpPr/>
          <p:nvPr/>
        </p:nvSpPr>
        <p:spPr>
          <a:xfrm>
            <a:off x="4388466" y="1972752"/>
            <a:ext cx="1520100" cy="10008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5" name="Google Shape;295;g11b8a6e124f_1_7"/>
          <p:cNvSpPr/>
          <p:nvPr/>
        </p:nvSpPr>
        <p:spPr>
          <a:xfrm>
            <a:off x="8103598" y="2056635"/>
            <a:ext cx="1520100" cy="10008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6" name="Google Shape;296;g11b8a6e124f_1_7"/>
          <p:cNvSpPr/>
          <p:nvPr/>
        </p:nvSpPr>
        <p:spPr>
          <a:xfrm>
            <a:off x="8285828" y="598763"/>
            <a:ext cx="3601500" cy="1000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7" name="Google Shape;297;g11b8a6e124f_1_7"/>
          <p:cNvSpPr/>
          <p:nvPr/>
        </p:nvSpPr>
        <p:spPr>
          <a:xfrm>
            <a:off x="97637" y="1616050"/>
            <a:ext cx="4207800" cy="1714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8" name="Google Shape;298;g11b8a6e124f_1_7"/>
          <p:cNvSpPr/>
          <p:nvPr/>
        </p:nvSpPr>
        <p:spPr>
          <a:xfrm>
            <a:off x="3308951" y="4030925"/>
            <a:ext cx="8689800" cy="22431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2268cfb89e_0_41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Dependency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12268cfb89e_0_41"/>
          <p:cNvSpPr txBox="1"/>
          <p:nvPr>
            <p:ph idx="1" type="body"/>
          </p:nvPr>
        </p:nvSpPr>
        <p:spPr>
          <a:xfrm>
            <a:off x="838200" y="1123650"/>
            <a:ext cx="103497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Sử dụng Dependency injection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Truyền vào hàm khởi tạo (constructor injection)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Truyền vào property (property injection)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Truyền vào parameter của hàm (parameter injection)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26f377bf69_0_0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Dependency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g126f377bf6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7176" y="152800"/>
            <a:ext cx="2934300" cy="745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11" name="Google Shape;311;g126f377bf6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963" y="4188400"/>
            <a:ext cx="8772525" cy="232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26f377bf69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75" y="2246400"/>
            <a:ext cx="4276725" cy="152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3" name="Google Shape;313;g126f377bf69_0_0"/>
          <p:cNvSpPr/>
          <p:nvPr/>
        </p:nvSpPr>
        <p:spPr>
          <a:xfrm>
            <a:off x="9080275" y="152838"/>
            <a:ext cx="3068100" cy="74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g126f377bf69_0_0"/>
          <p:cNvSpPr/>
          <p:nvPr/>
        </p:nvSpPr>
        <p:spPr>
          <a:xfrm>
            <a:off x="97649" y="2246388"/>
            <a:ext cx="4207800" cy="1714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5" name="Google Shape;315;g126f377bf69_0_0"/>
          <p:cNvSpPr/>
          <p:nvPr/>
        </p:nvSpPr>
        <p:spPr>
          <a:xfrm>
            <a:off x="3308963" y="4188400"/>
            <a:ext cx="8689800" cy="22431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6" name="Google Shape;316;g126f377bf69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5463" y="475500"/>
            <a:ext cx="4436150" cy="365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7" name="Google Shape;317;g126f377bf69_0_0"/>
          <p:cNvSpPr/>
          <p:nvPr/>
        </p:nvSpPr>
        <p:spPr>
          <a:xfrm>
            <a:off x="4755125" y="756125"/>
            <a:ext cx="3600300" cy="14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8" name="Google Shape;318;g126f377bf69_0_0"/>
          <p:cNvSpPr/>
          <p:nvPr/>
        </p:nvSpPr>
        <p:spPr>
          <a:xfrm>
            <a:off x="7411225" y="969750"/>
            <a:ext cx="1103700" cy="19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19" name="Google Shape;319;g126f377bf69_0_0"/>
          <p:cNvCxnSpPr>
            <a:stCxn id="314" idx="0"/>
            <a:endCxn id="318" idx="1"/>
          </p:cNvCxnSpPr>
          <p:nvPr/>
        </p:nvCxnSpPr>
        <p:spPr>
          <a:xfrm flipH="1" rot="10800000">
            <a:off x="2201549" y="1066188"/>
            <a:ext cx="5209800" cy="1180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g126f377bf69_0_0"/>
          <p:cNvCxnSpPr>
            <a:endCxn id="318" idx="2"/>
          </p:cNvCxnSpPr>
          <p:nvPr/>
        </p:nvCxnSpPr>
        <p:spPr>
          <a:xfrm rot="10800000">
            <a:off x="7963075" y="1162350"/>
            <a:ext cx="1103700" cy="3069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g126f377bf69_0_0"/>
          <p:cNvCxnSpPr>
            <a:stCxn id="318" idx="2"/>
          </p:cNvCxnSpPr>
          <p:nvPr/>
        </p:nvCxnSpPr>
        <p:spPr>
          <a:xfrm rot="5400000">
            <a:off x="7691275" y="1082550"/>
            <a:ext cx="192000" cy="351600"/>
          </a:xfrm>
          <a:prstGeom prst="curvedConnector2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2" name="Google Shape;322;g126f377bf69_0_0"/>
          <p:cNvSpPr txBox="1"/>
          <p:nvPr>
            <p:ph idx="1" type="body"/>
          </p:nvPr>
        </p:nvSpPr>
        <p:spPr>
          <a:xfrm>
            <a:off x="607600" y="1066200"/>
            <a:ext cx="38130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constructor injection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3" name="Google Shape;323;g126f377bf69_0_0"/>
          <p:cNvCxnSpPr/>
          <p:nvPr/>
        </p:nvCxnSpPr>
        <p:spPr>
          <a:xfrm>
            <a:off x="6367350" y="4348975"/>
            <a:ext cx="1661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g126f377bf69_0_0"/>
          <p:cNvCxnSpPr/>
          <p:nvPr/>
        </p:nvCxnSpPr>
        <p:spPr>
          <a:xfrm>
            <a:off x="2572225" y="2393775"/>
            <a:ext cx="1661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34e1a612b7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hành số 2</a:t>
            </a:r>
            <a:endParaRPr/>
          </a:p>
        </p:txBody>
      </p:sp>
      <p:sp>
        <p:nvSpPr>
          <p:cNvPr id="330" name="Google Shape;330;g134e1a612b7_0_5"/>
          <p:cNvSpPr txBox="1"/>
          <p:nvPr>
            <p:ph idx="1" type="body"/>
          </p:nvPr>
        </p:nvSpPr>
        <p:spPr>
          <a:xfrm>
            <a:off x="838200" y="1825625"/>
            <a:ext cx="10515600" cy="410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Project: 2.BreakDependency/MISA.UT.BD.App</a:t>
            </a:r>
            <a:endParaRPr sz="4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280daa98f3_0_126"/>
          <p:cNvSpPr txBox="1"/>
          <p:nvPr>
            <p:ph type="title"/>
          </p:nvPr>
        </p:nvSpPr>
        <p:spPr>
          <a:xfrm>
            <a:off x="838200" y="365125"/>
            <a:ext cx="10515600" cy="90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Break Dependency</a:t>
            </a:r>
            <a:endParaRPr/>
          </a:p>
        </p:txBody>
      </p:sp>
      <p:pic>
        <p:nvPicPr>
          <p:cNvPr id="336" name="Google Shape;336;g1280daa98f3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300" y="4012375"/>
            <a:ext cx="9882924" cy="22507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37" name="Google Shape;337;g1280daa98f3_0_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300" y="1268725"/>
            <a:ext cx="3911475" cy="2642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34e1a612b7_0_10"/>
          <p:cNvSpPr txBox="1"/>
          <p:nvPr>
            <p:ph type="title"/>
          </p:nvPr>
        </p:nvSpPr>
        <p:spPr>
          <a:xfrm>
            <a:off x="838200" y="365125"/>
            <a:ext cx="10515600" cy="69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Stub &amp; Mock</a:t>
            </a:r>
            <a:endParaRPr/>
          </a:p>
        </p:txBody>
      </p:sp>
      <p:sp>
        <p:nvSpPr>
          <p:cNvPr id="343" name="Google Shape;343;g134e1a612b7_0_10"/>
          <p:cNvSpPr txBox="1"/>
          <p:nvPr>
            <p:ph idx="1" type="body"/>
          </p:nvPr>
        </p:nvSpPr>
        <p:spPr>
          <a:xfrm>
            <a:off x="838200" y="1058425"/>
            <a:ext cx="5691300" cy="54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Fake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Giả đối tượng phục vụ quá trình unit test =&gt; khái niệm chung chung về việc làm giả đối tượng.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Stub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Chương trình giả lập -&gt; Thực hiện được case test -&gt; Không thể trả kết quả case test là fail.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Assert unit test với kết quả hàm được test.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4" name="Google Shape;344;g134e1a612b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8050" y="1538289"/>
            <a:ext cx="5095875" cy="3781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g1280daa98f3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50" y="2617325"/>
            <a:ext cx="5042575" cy="4124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0" name="Google Shape;350;g1280daa98f3_0_24"/>
          <p:cNvSpPr txBox="1"/>
          <p:nvPr>
            <p:ph type="title"/>
          </p:nvPr>
        </p:nvSpPr>
        <p:spPr>
          <a:xfrm>
            <a:off x="0" y="6125"/>
            <a:ext cx="11970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Stub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1" name="Google Shape;351;g1280daa98f3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500" y="94025"/>
            <a:ext cx="3277801" cy="243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52" name="Google Shape;352;g1280daa98f3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0776" y="94026"/>
            <a:ext cx="58293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3" name="Google Shape;353;g1280daa98f3_0_24"/>
          <p:cNvSpPr/>
          <p:nvPr/>
        </p:nvSpPr>
        <p:spPr>
          <a:xfrm>
            <a:off x="1844900" y="260800"/>
            <a:ext cx="830100" cy="5418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4" name="Google Shape;354;g1280daa98f3_0_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0763" y="5170463"/>
            <a:ext cx="3933825" cy="1438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5" name="Google Shape;355;g1280daa98f3_0_24"/>
          <p:cNvSpPr/>
          <p:nvPr/>
        </p:nvSpPr>
        <p:spPr>
          <a:xfrm>
            <a:off x="6850550" y="1981126"/>
            <a:ext cx="3344100" cy="193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6" name="Google Shape;356;g1280daa98f3_0_24"/>
          <p:cNvSpPr/>
          <p:nvPr/>
        </p:nvSpPr>
        <p:spPr>
          <a:xfrm>
            <a:off x="3909150" y="323375"/>
            <a:ext cx="830100" cy="541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7" name="Google Shape;357;g1280daa98f3_0_24"/>
          <p:cNvSpPr/>
          <p:nvPr/>
        </p:nvSpPr>
        <p:spPr>
          <a:xfrm>
            <a:off x="7211100" y="5148175"/>
            <a:ext cx="1197000" cy="193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g1280daa98f3_0_24"/>
          <p:cNvSpPr/>
          <p:nvPr/>
        </p:nvSpPr>
        <p:spPr>
          <a:xfrm>
            <a:off x="6850550" y="1765624"/>
            <a:ext cx="3085200" cy="193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9" name="Google Shape;359;g1280daa98f3_0_24"/>
          <p:cNvSpPr/>
          <p:nvPr/>
        </p:nvSpPr>
        <p:spPr>
          <a:xfrm>
            <a:off x="6850550" y="4125950"/>
            <a:ext cx="3085200" cy="193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60" name="Google Shape;360;g1280daa98f3_0_24"/>
          <p:cNvCxnSpPr>
            <a:endCxn id="361" idx="0"/>
          </p:cNvCxnSpPr>
          <p:nvPr/>
        </p:nvCxnSpPr>
        <p:spPr>
          <a:xfrm flipH="1">
            <a:off x="2370518" y="4471671"/>
            <a:ext cx="4509600" cy="983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62" name="Google Shape;362;g1280daa98f3_0_24"/>
          <p:cNvSpPr/>
          <p:nvPr/>
        </p:nvSpPr>
        <p:spPr>
          <a:xfrm>
            <a:off x="2877022" y="609400"/>
            <a:ext cx="8301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g1280daa98f3_0_24"/>
          <p:cNvSpPr/>
          <p:nvPr/>
        </p:nvSpPr>
        <p:spPr>
          <a:xfrm>
            <a:off x="916268" y="5454771"/>
            <a:ext cx="29085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63" name="Google Shape;363;g1280daa98f3_0_24"/>
          <p:cNvCxnSpPr>
            <a:stCxn id="361" idx="3"/>
            <a:endCxn id="364" idx="1"/>
          </p:cNvCxnSpPr>
          <p:nvPr/>
        </p:nvCxnSpPr>
        <p:spPr>
          <a:xfrm>
            <a:off x="3824768" y="5551371"/>
            <a:ext cx="3025800" cy="64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64" name="Google Shape;364;g1280daa98f3_0_24"/>
          <p:cNvSpPr/>
          <p:nvPr/>
        </p:nvSpPr>
        <p:spPr>
          <a:xfrm>
            <a:off x="6850548" y="6095925"/>
            <a:ext cx="15576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65" name="Google Shape;365;g1280daa98f3_0_24"/>
          <p:cNvCxnSpPr>
            <a:stCxn id="364" idx="3"/>
            <a:endCxn id="359" idx="3"/>
          </p:cNvCxnSpPr>
          <p:nvPr/>
        </p:nvCxnSpPr>
        <p:spPr>
          <a:xfrm flipH="1" rot="10800000">
            <a:off x="8408148" y="4222425"/>
            <a:ext cx="1527600" cy="1970100"/>
          </a:xfrm>
          <a:prstGeom prst="curvedConnector3">
            <a:avLst>
              <a:gd fmla="val 115588" name="adj1"/>
            </a:avLst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366" name="Google Shape;366;g1280daa98f3_0_24"/>
          <p:cNvSpPr/>
          <p:nvPr/>
        </p:nvSpPr>
        <p:spPr>
          <a:xfrm>
            <a:off x="2905225" y="1806825"/>
            <a:ext cx="773700" cy="541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7" name="Google Shape;367;g1280daa98f3_0_24"/>
          <p:cNvSpPr/>
          <p:nvPr/>
        </p:nvSpPr>
        <p:spPr>
          <a:xfrm>
            <a:off x="7209251" y="323376"/>
            <a:ext cx="1691400" cy="2601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68" name="Google Shape;368;g1280daa98f3_0_24"/>
          <p:cNvCxnSpPr/>
          <p:nvPr/>
        </p:nvCxnSpPr>
        <p:spPr>
          <a:xfrm>
            <a:off x="6858000" y="4460500"/>
            <a:ext cx="3033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g1280daa98f3_0_24"/>
          <p:cNvSpPr/>
          <p:nvPr/>
        </p:nvSpPr>
        <p:spPr>
          <a:xfrm>
            <a:off x="2632945" y="1126300"/>
            <a:ext cx="708900" cy="193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g1280daa98f3_0_24"/>
          <p:cNvSpPr/>
          <p:nvPr/>
        </p:nvSpPr>
        <p:spPr>
          <a:xfrm>
            <a:off x="6850531" y="4637075"/>
            <a:ext cx="1557600" cy="193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71" name="Google Shape;371;g1280daa98f3_0_24"/>
          <p:cNvCxnSpPr>
            <a:endCxn id="370" idx="1"/>
          </p:cNvCxnSpPr>
          <p:nvPr/>
        </p:nvCxnSpPr>
        <p:spPr>
          <a:xfrm flipH="1" rot="10800000">
            <a:off x="2130031" y="4733675"/>
            <a:ext cx="4720500" cy="1143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2" name="Google Shape;372;g1280daa98f3_0_24"/>
          <p:cNvSpPr/>
          <p:nvPr/>
        </p:nvSpPr>
        <p:spPr>
          <a:xfrm>
            <a:off x="1197000" y="2593225"/>
            <a:ext cx="1066800" cy="193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73" name="Google Shape;373;g1280daa98f3_0_24"/>
          <p:cNvCxnSpPr/>
          <p:nvPr/>
        </p:nvCxnSpPr>
        <p:spPr>
          <a:xfrm flipH="1">
            <a:off x="3841100" y="2129875"/>
            <a:ext cx="5670900" cy="1429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f44cbe1a55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hành số 3</a:t>
            </a:r>
            <a:endParaRPr/>
          </a:p>
        </p:txBody>
      </p:sp>
      <p:sp>
        <p:nvSpPr>
          <p:cNvPr id="379" name="Google Shape;379;gf44cbe1a55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Thực hành viết unit test cho project </a:t>
            </a:r>
            <a:r>
              <a:rPr lang="en-US" sz="4000"/>
              <a:t>Project: 2.BreakDependency/MISA.UT.BD.App</a:t>
            </a:r>
            <a:endParaRPr sz="4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34e1a612b7_0_16"/>
          <p:cNvSpPr txBox="1"/>
          <p:nvPr>
            <p:ph type="title"/>
          </p:nvPr>
        </p:nvSpPr>
        <p:spPr>
          <a:xfrm>
            <a:off x="838200" y="365125"/>
            <a:ext cx="10515600" cy="69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Stub &amp; Mock</a:t>
            </a:r>
            <a:endParaRPr/>
          </a:p>
        </p:txBody>
      </p:sp>
      <p:sp>
        <p:nvSpPr>
          <p:cNvPr id="385" name="Google Shape;385;g134e1a612b7_0_16"/>
          <p:cNvSpPr txBox="1"/>
          <p:nvPr>
            <p:ph idx="1" type="body"/>
          </p:nvPr>
        </p:nvSpPr>
        <p:spPr>
          <a:xfrm>
            <a:off x="838200" y="1058425"/>
            <a:ext cx="5831700" cy="54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Mock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Đối tượng ảo -&gt; Tính chất hành vi như đối tượng thật -&gt; Tuyền vào trong khối mã đang kiểm tra -&gt; kiểm tra tính đúng của các hoạt động bên trong.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Assert unit test với đối tượng Mock.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6" name="Google Shape;386;g134e1a612b7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6250" y="1614489"/>
            <a:ext cx="5000625" cy="3629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280daa98f3_0_30"/>
          <p:cNvSpPr txBox="1"/>
          <p:nvPr>
            <p:ph type="title"/>
          </p:nvPr>
        </p:nvSpPr>
        <p:spPr>
          <a:xfrm>
            <a:off x="57600" y="84100"/>
            <a:ext cx="14700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Mock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g1280daa98f3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900" y="262525"/>
            <a:ext cx="3664125" cy="265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3" name="Google Shape;393;g1280daa98f3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3900" y="3116025"/>
            <a:ext cx="4048125" cy="365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4" name="Google Shape;394;g1280daa98f3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7375" y="355175"/>
            <a:ext cx="4619625" cy="270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5" name="Google Shape;395;g1280daa98f3_0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7375" y="3911800"/>
            <a:ext cx="3181350" cy="1562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96" name="Google Shape;396;g1280daa98f3_0_30"/>
          <p:cNvSpPr/>
          <p:nvPr/>
        </p:nvSpPr>
        <p:spPr>
          <a:xfrm>
            <a:off x="1588425" y="494975"/>
            <a:ext cx="931800" cy="5418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g1280daa98f3_0_30"/>
          <p:cNvSpPr/>
          <p:nvPr/>
        </p:nvSpPr>
        <p:spPr>
          <a:xfrm>
            <a:off x="4009525" y="494975"/>
            <a:ext cx="830100" cy="5418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8" name="Google Shape;398;g1280daa98f3_0_30"/>
          <p:cNvSpPr/>
          <p:nvPr/>
        </p:nvSpPr>
        <p:spPr>
          <a:xfrm>
            <a:off x="2799634" y="846225"/>
            <a:ext cx="8301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9" name="Google Shape;399;g1280daa98f3_0_30"/>
          <p:cNvSpPr/>
          <p:nvPr/>
        </p:nvSpPr>
        <p:spPr>
          <a:xfrm>
            <a:off x="2827825" y="2185975"/>
            <a:ext cx="773700" cy="5418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0" name="Google Shape;400;g1280daa98f3_0_30"/>
          <p:cNvSpPr/>
          <p:nvPr/>
        </p:nvSpPr>
        <p:spPr>
          <a:xfrm>
            <a:off x="2722170" y="1393925"/>
            <a:ext cx="708900" cy="193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1" name="Google Shape;401;g1280daa98f3_0_30"/>
          <p:cNvSpPr/>
          <p:nvPr/>
        </p:nvSpPr>
        <p:spPr>
          <a:xfrm>
            <a:off x="2365275" y="3116025"/>
            <a:ext cx="1236300" cy="1932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2" name="Google Shape;402;g1280daa98f3_0_30"/>
          <p:cNvSpPr/>
          <p:nvPr/>
        </p:nvSpPr>
        <p:spPr>
          <a:xfrm>
            <a:off x="7518450" y="3911800"/>
            <a:ext cx="1101600" cy="193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3" name="Google Shape;403;g1280daa98f3_0_30"/>
          <p:cNvSpPr/>
          <p:nvPr/>
        </p:nvSpPr>
        <p:spPr>
          <a:xfrm>
            <a:off x="7135600" y="1393925"/>
            <a:ext cx="3664200" cy="1932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4" name="Google Shape;404;g1280daa98f3_0_30"/>
          <p:cNvSpPr/>
          <p:nvPr/>
        </p:nvSpPr>
        <p:spPr>
          <a:xfrm>
            <a:off x="7135600" y="1611125"/>
            <a:ext cx="3937500" cy="128400"/>
          </a:xfrm>
          <a:prstGeom prst="rect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g1280daa98f3_0_30"/>
          <p:cNvSpPr/>
          <p:nvPr/>
        </p:nvSpPr>
        <p:spPr>
          <a:xfrm>
            <a:off x="7429550" y="355175"/>
            <a:ext cx="1470000" cy="1932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6" name="Google Shape;406;g1280daa98f3_0_30"/>
          <p:cNvSpPr/>
          <p:nvPr/>
        </p:nvSpPr>
        <p:spPr>
          <a:xfrm>
            <a:off x="7135584" y="2070850"/>
            <a:ext cx="22425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7" name="Google Shape;407;g1280daa98f3_0_30"/>
          <p:cNvSpPr/>
          <p:nvPr/>
        </p:nvSpPr>
        <p:spPr>
          <a:xfrm>
            <a:off x="2216220" y="5602075"/>
            <a:ext cx="3181200" cy="352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08" name="Google Shape;408;g1280daa98f3_0_30"/>
          <p:cNvCxnSpPr>
            <a:stCxn id="406" idx="1"/>
            <a:endCxn id="407" idx="0"/>
          </p:cNvCxnSpPr>
          <p:nvPr/>
        </p:nvCxnSpPr>
        <p:spPr>
          <a:xfrm flipH="1">
            <a:off x="3806784" y="2167450"/>
            <a:ext cx="3328800" cy="343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09" name="Google Shape;409;g1280daa98f3_0_30"/>
          <p:cNvSpPr/>
          <p:nvPr/>
        </p:nvSpPr>
        <p:spPr>
          <a:xfrm>
            <a:off x="7081025" y="4956525"/>
            <a:ext cx="2438700" cy="19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10" name="Google Shape;410;g1280daa98f3_0_30"/>
          <p:cNvCxnSpPr>
            <a:stCxn id="407" idx="3"/>
            <a:endCxn id="409" idx="1"/>
          </p:cNvCxnSpPr>
          <p:nvPr/>
        </p:nvCxnSpPr>
        <p:spPr>
          <a:xfrm flipH="1" rot="10800000">
            <a:off x="5397420" y="5053075"/>
            <a:ext cx="1683600" cy="72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11" name="Google Shape;411;g1280daa98f3_0_30"/>
          <p:cNvSpPr/>
          <p:nvPr/>
        </p:nvSpPr>
        <p:spPr>
          <a:xfrm>
            <a:off x="6849900" y="4361800"/>
            <a:ext cx="2796000" cy="193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12" name="Google Shape;412;g1280daa98f3_0_30"/>
          <p:cNvCxnSpPr>
            <a:stCxn id="409" idx="0"/>
            <a:endCxn id="411" idx="2"/>
          </p:cNvCxnSpPr>
          <p:nvPr/>
        </p:nvCxnSpPr>
        <p:spPr>
          <a:xfrm rot="10800000">
            <a:off x="8247875" y="4555125"/>
            <a:ext cx="52500" cy="40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13" name="Google Shape;413;g1280daa98f3_0_30"/>
          <p:cNvSpPr/>
          <p:nvPr/>
        </p:nvSpPr>
        <p:spPr>
          <a:xfrm>
            <a:off x="7135600" y="2406550"/>
            <a:ext cx="3736800" cy="4014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14" name="Google Shape;414;g1280daa98f3_0_30"/>
          <p:cNvCxnSpPr>
            <a:stCxn id="413" idx="3"/>
            <a:endCxn id="411" idx="3"/>
          </p:cNvCxnSpPr>
          <p:nvPr/>
        </p:nvCxnSpPr>
        <p:spPr>
          <a:xfrm flipH="1">
            <a:off x="9646000" y="2607250"/>
            <a:ext cx="1226400" cy="1851300"/>
          </a:xfrm>
          <a:prstGeom prst="curvedConnector3">
            <a:avLst>
              <a:gd fmla="val -19417" name="adj1"/>
            </a:avLst>
          </a:prstGeom>
          <a:noFill/>
          <a:ln cap="flat" cmpd="sng" w="19050">
            <a:solidFill>
              <a:srgbClr val="FF9900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415" name="Google Shape;415;g1280daa98f3_0_30"/>
          <p:cNvCxnSpPr/>
          <p:nvPr/>
        </p:nvCxnSpPr>
        <p:spPr>
          <a:xfrm flipH="1">
            <a:off x="4237600" y="1694975"/>
            <a:ext cx="6233400" cy="268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f44cbe1a55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hành số 4</a:t>
            </a:r>
            <a:endParaRPr/>
          </a:p>
        </p:txBody>
      </p:sp>
      <p:sp>
        <p:nvSpPr>
          <p:cNvPr id="421" name="Google Shape;421;gf44cbe1a55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Project: 3.StubMock/MISA.UT.StubMock.App</a:t>
            </a:r>
            <a:endParaRPr sz="4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2268cfb89e_0_54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Stub &amp; Mock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7" name="Google Shape;427;g12268cfb89e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123651"/>
            <a:ext cx="5095875" cy="3781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28" name="Google Shape;428;g12268cfb89e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9000" y="1199851"/>
            <a:ext cx="5000625" cy="3629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2268cfb89e_0_59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Isolation Framework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g12268cfb89e_0_59"/>
          <p:cNvSpPr txBox="1"/>
          <p:nvPr>
            <p:ph idx="1" type="body"/>
          </p:nvPr>
        </p:nvSpPr>
        <p:spPr>
          <a:xfrm>
            <a:off x="838200" y="1123650"/>
            <a:ext cx="103497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Giúp tạo các object fake (stub, mock) nhanh chóng, dễ dàng bằng config, không cần phải tạo thủ công nữa, loại bỏ các code lặp đi lặp lại.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Sử dụng Nsubstitute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Document rõ ràng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Dễ dùng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http://nsubstitute.github.io/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" name="Google Shape;435;g12268cfb89e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638" y="2886075"/>
            <a:ext cx="4276725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2268cfb89e_0_64"/>
          <p:cNvSpPr txBox="1"/>
          <p:nvPr>
            <p:ph type="title"/>
          </p:nvPr>
        </p:nvSpPr>
        <p:spPr>
          <a:xfrm>
            <a:off x="72700" y="612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NSubstitute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1" name="Google Shape;441;g12268cfb89e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375" y="61250"/>
            <a:ext cx="7817822" cy="3180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42" name="Google Shape;442;g12268cfb89e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3638" y="3341825"/>
            <a:ext cx="5184725" cy="3180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443" name="Google Shape;443;g12268cfb89e_0_64"/>
          <p:cNvCxnSpPr/>
          <p:nvPr/>
        </p:nvCxnSpPr>
        <p:spPr>
          <a:xfrm>
            <a:off x="3093450" y="1604400"/>
            <a:ext cx="39639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g12268cfb89e_0_64"/>
          <p:cNvCxnSpPr/>
          <p:nvPr/>
        </p:nvCxnSpPr>
        <p:spPr>
          <a:xfrm>
            <a:off x="4021825" y="4797825"/>
            <a:ext cx="3171600" cy="1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g12268cfb89e_0_64"/>
          <p:cNvCxnSpPr/>
          <p:nvPr/>
        </p:nvCxnSpPr>
        <p:spPr>
          <a:xfrm>
            <a:off x="3093450" y="1756800"/>
            <a:ext cx="7004700" cy="3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g12268cfb89e_0_64"/>
          <p:cNvCxnSpPr/>
          <p:nvPr/>
        </p:nvCxnSpPr>
        <p:spPr>
          <a:xfrm>
            <a:off x="4047487" y="4932425"/>
            <a:ext cx="3234900" cy="38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g12268cfb89e_0_64"/>
          <p:cNvCxnSpPr/>
          <p:nvPr/>
        </p:nvCxnSpPr>
        <p:spPr>
          <a:xfrm flipH="1" rot="10800000">
            <a:off x="3046600" y="1939850"/>
            <a:ext cx="4125900" cy="5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g12268cfb89e_0_64"/>
          <p:cNvCxnSpPr/>
          <p:nvPr/>
        </p:nvCxnSpPr>
        <p:spPr>
          <a:xfrm>
            <a:off x="4047487" y="5089825"/>
            <a:ext cx="3234900" cy="38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g12268cfb89e_0_64"/>
          <p:cNvCxnSpPr/>
          <p:nvPr/>
        </p:nvCxnSpPr>
        <p:spPr>
          <a:xfrm>
            <a:off x="2994175" y="2858688"/>
            <a:ext cx="6139500" cy="35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g12268cfb89e_0_64"/>
          <p:cNvSpPr/>
          <p:nvPr/>
        </p:nvSpPr>
        <p:spPr>
          <a:xfrm>
            <a:off x="3991301" y="5780350"/>
            <a:ext cx="3841800" cy="4485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f44cbe1a55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hành số 5</a:t>
            </a:r>
            <a:endParaRPr/>
          </a:p>
        </p:txBody>
      </p:sp>
      <p:sp>
        <p:nvSpPr>
          <p:cNvPr id="456" name="Google Shape;456;gf44cbe1a55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000"/>
              <a:t>Project: 3.StubMock/MISA.UT.StubMock.App</a:t>
            </a:r>
            <a:endParaRPr sz="4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2268cfb89e_0_75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practices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12268cfb89e_0_75"/>
          <p:cNvSpPr txBox="1"/>
          <p:nvPr>
            <p:ph idx="1" type="body"/>
          </p:nvPr>
        </p:nvSpPr>
        <p:spPr>
          <a:xfrm>
            <a:off x="838200" y="1123650"/>
            <a:ext cx="10349700" cy="4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Mỗi một hàm test chỉ test một đơn vị code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Đặt tên gồm 3 thành phần: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[Tên hàm]_[Đầu vào]_[Đầu ra mong muốn]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Quy tắc 3A, tránh viết nhiều code logic trong 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Arrange: Chuẩn bị tất cả các dữ liệu đầu vào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Act: Gọi hàm cần 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Assert: Kiểm tra kết quả có đúng mong đợi không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Đảm bảo chạy code coverage kiểm tra sau khi unit test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So sánh object nên đưa về so sánh property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Khi design class hướng tới việc dùng interface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f44cbe1a55_0_102"/>
          <p:cNvSpPr txBox="1"/>
          <p:nvPr>
            <p:ph type="title"/>
          </p:nvPr>
        </p:nvSpPr>
        <p:spPr>
          <a:xfrm>
            <a:off x="838200" y="22905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 code một số case thường gặp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gf44cbe1a55_0_102"/>
          <p:cNvSpPr txBox="1"/>
          <p:nvPr>
            <p:ph idx="1" type="body"/>
          </p:nvPr>
        </p:nvSpPr>
        <p:spPr>
          <a:xfrm>
            <a:off x="990500" y="1123650"/>
            <a:ext cx="101973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Hướng tới việc các đối tượng tương tác với nhau ở mức trừu tượng (Sử dụng interface).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Những hàm dài, phức tạp =&gt; sử dụng phương pháp Sprout Method và Sprout Class =&gt; Tách ra các hàm hoặc lớp.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Khử phụ thuộc hàm Private =&gt; Chuyển hàm sang protected internal hoặc thay thay thế nội dung hàm private đó thành các hàm virtual của đối tượng khác được “Tiêm” vào.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Biến toàn cục (static) =&gt; Chuyển sang mẫu Singleton =&gt; Extract interface =&gt; Viết hàm static để cho phép “Tiêm” instance khác trong quá trình test.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f44cbe1a55_0_18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Thực hành số 6</a:t>
            </a:r>
            <a:endParaRPr/>
          </a:p>
        </p:txBody>
      </p:sp>
      <p:sp>
        <p:nvSpPr>
          <p:cNvPr id="474" name="Google Shape;474;gf44cbe1a55_0_183"/>
          <p:cNvSpPr txBox="1"/>
          <p:nvPr>
            <p:ph idx="1" type="body"/>
          </p:nvPr>
        </p:nvSpPr>
        <p:spPr>
          <a:xfrm>
            <a:off x="997350" y="1690825"/>
            <a:ext cx="101973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Khử phụ thuộc hàm Private =&gt; Project 4.Refactor/AccessModifiers/MISA.UT.Refactor.AccessModifiers.App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Char char="•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 Biến toàn cục (static) =&gt; Chuyển sang mẫu Singleton =&gt; Extract interface =&gt; Viết hàm static để cho phép “Tiêm” instance khác trong quá trình test =&gt; Project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4.Refactor/GlobalDependency/MISA.UT.Refactor.Global.Dependency.App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661bab4b2_1_6"/>
          <p:cNvSpPr txBox="1"/>
          <p:nvPr>
            <p:ph idx="1" type="body"/>
          </p:nvPr>
        </p:nvSpPr>
        <p:spPr>
          <a:xfrm>
            <a:off x="4238400" y="694175"/>
            <a:ext cx="3715200" cy="994500"/>
          </a:xfrm>
          <a:prstGeom prst="rect">
            <a:avLst/>
          </a:prstGeom>
          <a:solidFill>
            <a:srgbClr val="5FBDDF"/>
          </a:solid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b="1" lang="en-US" sz="7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1" sz="7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8661bab4b2_1_6"/>
          <p:cNvSpPr txBox="1"/>
          <p:nvPr>
            <p:ph idx="1" type="body"/>
          </p:nvPr>
        </p:nvSpPr>
        <p:spPr>
          <a:xfrm>
            <a:off x="1074050" y="2264025"/>
            <a:ext cx="10321500" cy="3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Refactor 1 class để có thể viết Unit test.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IDE: Visual Studio 2022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Unit Test Framework: NUnit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Isolation Framework: Nsubstitute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"/>
          <p:cNvSpPr txBox="1"/>
          <p:nvPr>
            <p:ph idx="1" type="body"/>
          </p:nvPr>
        </p:nvSpPr>
        <p:spPr>
          <a:xfrm>
            <a:off x="2091740" y="1850400"/>
            <a:ext cx="85605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en-US" sz="7200">
                <a:solidFill>
                  <a:srgbClr val="5FBDD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7200">
              <a:solidFill>
                <a:srgbClr val="5FBDD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en-US" sz="7200">
                <a:solidFill>
                  <a:srgbClr val="5FBDDF"/>
                </a:solidFill>
                <a:latin typeface="Arial"/>
                <a:ea typeface="Arial"/>
                <a:cs typeface="Arial"/>
                <a:sym typeface="Arial"/>
              </a:rPr>
              <a:t>Any </a:t>
            </a:r>
            <a:r>
              <a:rPr b="1" lang="en-US" sz="7200">
                <a:latin typeface="Arial"/>
                <a:ea typeface="Arial"/>
                <a:cs typeface="Arial"/>
                <a:sym typeface="Arial"/>
              </a:rPr>
              <a:t>Questions?</a:t>
            </a:r>
            <a:endParaRPr b="1" sz="7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1558625" y="1483350"/>
            <a:ext cx="481800" cy="2706000"/>
          </a:xfrm>
          <a:prstGeom prst="rect">
            <a:avLst/>
          </a:prstGeom>
          <a:solidFill>
            <a:srgbClr val="5FBDDF"/>
          </a:solidFill>
          <a:ln cap="flat" cmpd="sng" w="9525">
            <a:solidFill>
              <a:srgbClr val="5FBD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2020-06-20T03:24:48Z</dcterms:created>
  <dc:creator>Nguyen Nhất Duy</dc:creator>
</cp:coreProperties>
</file>